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30 seconds. Introduce the topic: an AI copilot that reads logs, proposes fixes and closes tickets. The aim is faster fixes that a security team can still sign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One system sees sensitive logs, the ticket tool and can change production. Value is real (lower MTTR) but so is the blast radius.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Walk left to right: untrusted sources, masking gateway, read-only analyzer, validator, policy engine, executor in a separate zone. Audit log is write-once.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These come from the STRIDE table and OWASP LLM Top 10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Key point: analyzer and executor never share an account, network or approval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Use the harmless printer-ticket example: a hidden instruction asks to restart payments on all servers. Show that five layers stop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The policy engine, not the model, decides the tier; strictest rule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Staging only, written CISO authorisation, synthetic data with canaries. Full table of seven scenarios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Blended MTTR example uses planning figures: 30% auto at 5 min, 40% approved at 20 min, 30% human at 60 min = 27.5 min vs 90 min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Close with the five recommendations and the staged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Calibri"/>
              </a:rPr>
              <a:t>Securing an AI Root Cause Analysis and Ticket Resolution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BFD4EA"/>
                </a:solidFill>
                <a:latin typeface="Calibri"/>
              </a:rPr>
              <a:t>Top five risks and what we recommend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FD4EA"/>
                </a:solidFill>
                <a:latin typeface="Calibri"/>
              </a:rPr>
              <a:t>Cybersecurity  |  [Your name / group]  |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Why this copilot needs a security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Value:</a:t>
            </a:r>
            <a:r>
              <a:rPr sz="1900">
                <a:solidFill>
                  <a:srgbClr val="444B55"/>
                </a:solidFill>
                <a:latin typeface="Calibri"/>
              </a:rPr>
              <a:t> read logs, find root cause in seconds, close L1/L2 tickets, lower MTTR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Access in one place:</a:t>
            </a:r>
            <a:r>
              <a:rPr sz="1900">
                <a:solidFill>
                  <a:srgbClr val="444B55"/>
                </a:solidFill>
                <a:latin typeface="Calibri"/>
              </a:rPr>
              <a:t> logs full of secrets and customer data, ticketing tool, production runbooks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New attack surface:</a:t>
            </a:r>
            <a:r>
              <a:rPr sz="1900">
                <a:solidFill>
                  <a:srgbClr val="444B55"/>
                </a:solidFill>
                <a:latin typeface="Calibri"/>
              </a:rPr>
              <a:t> text in logs and tickets can carry instructions; history can be poisoned; model can be confidently wrong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Our design rule:</a:t>
            </a:r>
            <a:r>
              <a:rPr sz="1900">
                <a:solidFill>
                  <a:srgbClr val="444B55"/>
                </a:solidFill>
                <a:latin typeface="Calibri"/>
              </a:rPr>
              <a:t> the model is an untrusted adviser. It proposes; deterministic code decides; signed runbooks act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463040"/>
          <a:ext cx="51206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Assumption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B55"/>
                          </a:solidFill>
                          <a:latin typeface="Calibri"/>
                        </a:rPr>
                        <a:t>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B55"/>
                          </a:solidFill>
                          <a:latin typeface="Calibri"/>
                        </a:rPr>
                        <a:t>~150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B55"/>
                          </a:solidFill>
                          <a:latin typeface="Calibri"/>
                        </a:rPr>
                        <a:t>Log platform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B55"/>
                          </a:solidFill>
                          <a:latin typeface="Calibri"/>
                        </a:rPr>
                        <a:t>Central, ~500 GB/day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B55"/>
                          </a:solidFill>
                          <a:latin typeface="Calibri"/>
                        </a:rPr>
                        <a:t>Ticketing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B55"/>
                          </a:solidFill>
                          <a:latin typeface="Calibri"/>
                        </a:rPr>
                        <a:t>ServiceNow / JSM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B55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B55"/>
                          </a:solidFill>
                          <a:latin typeface="Calibri"/>
                        </a:rPr>
                        <a:t>Cloud-hosted LLM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B55"/>
                          </a:solidFill>
                          <a:latin typeface="Calibri"/>
                        </a:rPr>
                        <a:t>Laws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444B55"/>
                          </a:solidFill>
                          <a:latin typeface="Calibri"/>
                        </a:rPr>
                        <a:t>DPDP 2023, CERT-In, GDPR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Architecture: trust zones and where controls sit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051560"/>
            <a:ext cx="10058400" cy="5594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Top five risks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840480"/>
                <a:gridCol w="5669280"/>
                <a:gridCol w="1188720"/>
              </a:tblGrid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Why it matters here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Prompt injection via logs and tickets (LLM01)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Untrusted text sits in the model's prompt and can steer diagnosis or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Over-powerful credentials / excessive agency (LLM06)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One stolen or over-broad account could change production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Sensitive data exposure (LLM02)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Logs hold secrets and personal data that may reach a vendor or an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Poisoned incident history (LLM04/08)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A bad record becomes a trusted fix, repeatedly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Medium-High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Wrong but confident fixes (LLM09)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An automatic fix during an outage can make it worse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Medium-High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Defence 1: identity, separation and 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Separate identities:</a:t>
            </a:r>
            <a:r>
              <a:rPr sz="1900">
                <a:solidFill>
                  <a:srgbClr val="444B55"/>
                </a:solidFill>
                <a:latin typeface="Calibri"/>
              </a:rPr>
              <a:t> read-only analyzer vs write-capable executor, short-lived tokens from a vault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Network zones:</a:t>
            </a:r>
            <a:r>
              <a:rPr sz="1900">
                <a:solidFill>
                  <a:srgbClr val="444B55"/>
                </a:solidFill>
                <a:latin typeface="Calibri"/>
              </a:rPr>
              <a:t> log platform, copilot, production change zone; default-deny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Encryption:</a:t>
            </a:r>
            <a:r>
              <a:rPr sz="1900">
                <a:solidFill>
                  <a:srgbClr val="444B55"/>
                </a:solidFill>
                <a:latin typeface="Calibri"/>
              </a:rPr>
              <a:t> TLS 1.2+/mTLS, AES-256 at rest, customer-managed keys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Tamper-evident audit:</a:t>
            </a:r>
            <a:r>
              <a:rPr sz="1900">
                <a:solidFill>
                  <a:srgbClr val="444B55"/>
                </a:solidFill>
                <a:latin typeface="Calibri"/>
              </a:rPr>
              <a:t> hash-chained, write-once storage in a separate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Masking before the model:</a:t>
            </a:r>
            <a:r>
              <a:rPr sz="1900">
                <a:solidFill>
                  <a:srgbClr val="444B55"/>
                </a:solidFill>
                <a:latin typeface="Calibri"/>
              </a:rPr>
              <a:t> fail-closed; typed placeholders such as &lt;IP_1&gt;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Verified by:</a:t>
            </a:r>
            <a:r>
              <a:rPr sz="1900">
                <a:solidFill>
                  <a:srgbClr val="444B55"/>
                </a:solidFill>
                <a:latin typeface="Calibri"/>
              </a:rPr>
              <a:t> labelled test set, canary secrets, monthly sampling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Model hosting:</a:t>
            </a:r>
            <a:r>
              <a:rPr sz="1900">
                <a:solidFill>
                  <a:srgbClr val="444B55"/>
                </a:solidFill>
                <a:latin typeface="Calibri"/>
              </a:rPr>
              <a:t> private cloud endpoint, zero retention, no training on our data</a:t>
            </a:r>
          </a:p>
          <a:p>
            <a:pPr>
              <a:spcAft>
                <a:spcPts val="800"/>
              </a:spcAft>
            </a:pPr>
            <a:r>
              <a:rPr b="1" sz="1900">
                <a:solidFill>
                  <a:srgbClr val="1F3A5F"/>
                </a:solidFill>
                <a:latin typeface="Calibri"/>
              </a:rPr>
              <a:t>•  Retention:</a:t>
            </a:r>
            <a:r>
              <a:rPr sz="1900">
                <a:solidFill>
                  <a:srgbClr val="444B55"/>
                </a:solidFill>
                <a:latin typeface="Calibri"/>
              </a:rPr>
              <a:t> raw logs 180 days; masked prompts 90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Defence 2: stopping an injected instruction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5836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Intake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Verify webhook; tag as untrusted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Masking/tagging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Wrap as data; injection flag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Data is never an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Validator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Schema + allowed target only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Policy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Flag forces human-only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Output DLP + audit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Nothing leaves; alert raised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28016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•  Example ticket:</a:t>
            </a:r>
            <a:r>
              <a:rPr sz="1700">
                <a:solidFill>
                  <a:srgbClr val="444B55"/>
                </a:solidFill>
                <a:latin typeface="Calibri"/>
              </a:rPr>
              <a:t> "Printer offline" + hidden note telling the AI to restart services and reveal configuration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•  Result:</a:t>
            </a:r>
            <a:r>
              <a:rPr sz="1700">
                <a:solidFill>
                  <a:srgbClr val="444B55"/>
                </a:solidFill>
                <a:latin typeface="Calibri"/>
              </a:rPr>
              <a:t> ticket becomes human-only, nothing runs, security is alerted</a:t>
            </a:r>
          </a:p>
          <a:p>
            <a:pPr>
              <a:spcAft>
                <a:spcPts val="8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•  Also tested:</a:t>
            </a:r>
            <a:r>
              <a:rPr sz="1700">
                <a:solidFill>
                  <a:srgbClr val="444B55"/>
                </a:solidFill>
                <a:latin typeface="Calibri"/>
              </a:rPr>
              <a:t> accuracy (golden set), attacks (injection suite), drift (weekly re-run)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Defence 3: safe automation in three tiers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120640"/>
                <a:gridCol w="4114800"/>
              </a:tblGrid>
              <a:tr h="8229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1 Automatic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Allowlisted, reversible, low-risk; confidence ≥ 0.90; no flags; inside caps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Restart stateless service, clear temp files, re-run failed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2 Approve first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Medium risk, critical app, or confidence 0.70 to 0.89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Restart critical service, roll back deployment, change config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3 Human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Security, privileged, irreversible, injection flag, low 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Admin changes, firewall, data changes, suspected breach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8449"/>
                </a:solidFill>
                <a:latin typeface="Calibri"/>
              </a:rPr>
              <a:t>Guardrails: allowlist of ~15 signed runbooks  |  blast-radius caps (1 host or 5%)  |  pre/post health checks with auto-rollback  |  circuit breaker  |  one-click stop switch (two people to re-enable)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Red team plan: prevent, detect, respond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2926080"/>
                <a:gridCol w="2651760"/>
              </a:tblGrid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Prevent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Detect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Respond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Crafted log/ticket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Data/instruction separation, classifier,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Injection flags, topic/action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Quarantine, block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Stolen credentials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Short-lived tokens, vault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Analyzer write attempt, new network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Revoke, stop switch, rollback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Auto-fix abuse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Allowlist, caps, circuit breaker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Rollback rate, health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Suggest-only mode,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Poisoned history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Reviewed writes, signed snapshots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Snapshot integrity, outlier fixes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Restore snapshot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Chat data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Masking, output DLP, scoping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Canary hits, probing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44B55"/>
                          </a:solidFill>
                          <a:latin typeface="Calibri"/>
                        </a:rPr>
                        <a:t>Disable session, notify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Metrics: speed with security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67512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383280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MTTR (L1/L2)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90 → ≤ 30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Availability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99.90% → 99.95%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Auto-resolved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25 to 30% of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Reopen/rollback rate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≤ 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Copilot-caused outages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0 Severity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Masking recall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44B55"/>
                          </a:solidFill>
                          <a:latin typeface="Calibri"/>
                        </a:rPr>
                        <a:t>99.5% secrets, 98% PII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28016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•  Cost of control:</a:t>
            </a:r>
            <a:r>
              <a:rPr sz="1800">
                <a:solidFill>
                  <a:srgbClr val="444B55"/>
                </a:solidFill>
                <a:latin typeface="Calibri"/>
              </a:rPr>
              <a:t> ~15 min wait on a minority of tickets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•  Benefit:</a:t>
            </a:r>
            <a:r>
              <a:rPr sz="1800">
                <a:solidFill>
                  <a:srgbClr val="444B55"/>
                </a:solidFill>
                <a:latin typeface="Calibri"/>
              </a:rPr>
              <a:t> avoids a wrong automatic change in an outage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•  Verdict:</a:t>
            </a:r>
            <a:r>
              <a:rPr sz="1800">
                <a:solidFill>
                  <a:srgbClr val="444B55"/>
                </a:solidFill>
                <a:latin typeface="Calibri"/>
              </a:rPr>
              <a:t> worth it; trusted runbooks can move up a tier over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2100">
                <a:solidFill>
                  <a:srgbClr val="1F3A5F"/>
                </a:solidFill>
                <a:latin typeface="Calibri"/>
              </a:rPr>
              <a:t>•  1. Separate analysis from action:</a:t>
            </a:r>
            <a:r>
              <a:rPr sz="2100">
                <a:solidFill>
                  <a:srgbClr val="444B55"/>
                </a:solidFill>
                <a:latin typeface="Calibri"/>
              </a:rPr>
              <a:t> different identities, networks and approval paths</a:t>
            </a:r>
          </a:p>
          <a:p>
            <a:pPr>
              <a:spcAft>
                <a:spcPts val="800"/>
              </a:spcAft>
            </a:pPr>
            <a:r>
              <a:rPr b="1" sz="2100">
                <a:solidFill>
                  <a:srgbClr val="1F3A5F"/>
                </a:solidFill>
                <a:latin typeface="Calibri"/>
              </a:rPr>
              <a:t>•  2. Mask first, fail closed:</a:t>
            </a:r>
            <a:r>
              <a:rPr sz="2100">
                <a:solidFill>
                  <a:srgbClr val="444B55"/>
                </a:solidFill>
                <a:latin typeface="Calibri"/>
              </a:rPr>
              <a:t> and prove it with canaries</a:t>
            </a:r>
          </a:p>
          <a:p>
            <a:pPr>
              <a:spcAft>
                <a:spcPts val="800"/>
              </a:spcAft>
            </a:pPr>
            <a:r>
              <a:rPr b="1" sz="2100">
                <a:solidFill>
                  <a:srgbClr val="1F3A5F"/>
                </a:solidFill>
                <a:latin typeface="Calibri"/>
              </a:rPr>
              <a:t>•  3. Policy engine decides the tier,</a:t>
            </a:r>
            <a:r>
              <a:rPr sz="2100">
                <a:solidFill>
                  <a:srgbClr val="444B55"/>
                </a:solidFill>
                <a:latin typeface="Calibri"/>
              </a:rPr>
              <a:t> never the model</a:t>
            </a:r>
          </a:p>
          <a:p>
            <a:pPr>
              <a:spcAft>
                <a:spcPts val="800"/>
              </a:spcAft>
            </a:pPr>
            <a:r>
              <a:rPr b="1" sz="2100">
                <a:solidFill>
                  <a:srgbClr val="1F3A5F"/>
                </a:solidFill>
                <a:latin typeface="Calibri"/>
              </a:rPr>
              <a:t>•  4. Treat model output as untrusted:</a:t>
            </a:r>
            <a:r>
              <a:rPr sz="2100">
                <a:solidFill>
                  <a:srgbClr val="444B55"/>
                </a:solidFill>
                <a:latin typeface="Calibri"/>
              </a:rPr>
              <a:t> validated JSON, signed runbooks only</a:t>
            </a:r>
          </a:p>
          <a:p>
            <a:pPr>
              <a:spcAft>
                <a:spcPts val="800"/>
              </a:spcAft>
            </a:pPr>
            <a:r>
              <a:rPr b="1" sz="2100">
                <a:solidFill>
                  <a:srgbClr val="1F3A5F"/>
                </a:solidFill>
                <a:latin typeface="Calibri"/>
              </a:rPr>
              <a:t>•  5. Roll out in stages:</a:t>
            </a:r>
            <a:r>
              <a:rPr sz="2100">
                <a:solidFill>
                  <a:srgbClr val="444B55"/>
                </a:solidFill>
                <a:latin typeface="Calibri"/>
              </a:rPr>
              <a:t> shadow mode, approval-only, then limited automation, with red team and a tested stop switch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